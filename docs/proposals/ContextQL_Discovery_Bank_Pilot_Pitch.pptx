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881e4f9f445de" /><Relationship Type="http://schemas.openxmlformats.org/officeDocument/2006/relationships/extended-properties" Target="/docProps/app.xml" Id="R0e5e2524624a4af0" /><Relationship Type="http://schemas.openxmlformats.org/officeDocument/2006/relationships/officeDocument" Target="/ppt/presentation.xml" Id="R90145e02be05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5e1c6a5e964b45"/>
  </p:sldMasterIdLst>
  <p:notesMasterIdLst>
    <p:notesMasterId xmlns:r="http://schemas.openxmlformats.org/officeDocument/2006/relationships" r:id="Ra2bec37b3f044d1e"/>
  </p:notesMasterIdLst>
  <p:sldIdLst>
    <p:sldId xmlns:r="http://schemas.openxmlformats.org/officeDocument/2006/relationships" id="256" r:id="R9c969af1094c49b8"/>
    <p:sldId xmlns:r="http://schemas.openxmlformats.org/officeDocument/2006/relationships" id="257" r:id="R0eb68ab6986a43ca"/>
    <p:sldId xmlns:r="http://schemas.openxmlformats.org/officeDocument/2006/relationships" id="258" r:id="R47a9674099a342af"/>
    <p:sldId xmlns:r="http://schemas.openxmlformats.org/officeDocument/2006/relationships" id="259" r:id="Rde67229a6b334922"/>
    <p:sldId xmlns:r="http://schemas.openxmlformats.org/officeDocument/2006/relationships" id="260" r:id="Re4a50a4e5bff45b7"/>
    <p:sldId xmlns:r="http://schemas.openxmlformats.org/officeDocument/2006/relationships" id="261" r:id="R485e2faa71214b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fb1dbd18a4731" /><Relationship Type="http://schemas.openxmlformats.org/officeDocument/2006/relationships/slideMaster" Target="/ppt/slideMasters/slideMaster1.xml" Id="R565e1c6a5e964b45" /><Relationship Type="http://schemas.openxmlformats.org/officeDocument/2006/relationships/notesMaster" Target="/ppt/notesMasters/notesMaster1.xml" Id="Ra2bec37b3f044d1e" /><Relationship Type="http://schemas.openxmlformats.org/officeDocument/2006/relationships/presProps" Target="/ppt/presProps.xml" Id="R190c0ad7a1654b8d" /><Relationship Type="http://schemas.openxmlformats.org/officeDocument/2006/relationships/tableStyles" Target="/ppt/tableStyles.xml" Id="Rcfbad8cd0f9d4fa2" /><Relationship Type="http://schemas.openxmlformats.org/officeDocument/2006/relationships/slide" Target="/ppt/slides/slide1.xml" Id="R9c969af1094c49b8" /><Relationship Type="http://schemas.openxmlformats.org/officeDocument/2006/relationships/slide" Target="/ppt/slides/slide2.xml" Id="R0eb68ab6986a43ca" /><Relationship Type="http://schemas.openxmlformats.org/officeDocument/2006/relationships/slide" Target="/ppt/slides/slide3.xml" Id="R47a9674099a342af" /><Relationship Type="http://schemas.openxmlformats.org/officeDocument/2006/relationships/slide" Target="/ppt/slides/slide4.xml" Id="Rde67229a6b334922" /><Relationship Type="http://schemas.openxmlformats.org/officeDocument/2006/relationships/slide" Target="/ppt/slides/slide5.xml" Id="Re4a50a4e5bff45b7" /><Relationship Type="http://schemas.openxmlformats.org/officeDocument/2006/relationships/slide" Target="/ppt/slides/slide6.xml" Id="R485e2faa7121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e893d2174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b3db3645334462" /><Relationship Type="http://schemas.openxmlformats.org/officeDocument/2006/relationships/notesMaster" Target="/ppt/notesMasters/notesMaster1.xml" Id="R68d0ba6b565d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4ea1bb17b4b31" /><Relationship Type="http://schemas.openxmlformats.org/officeDocument/2006/relationships/notesMaster" Target="/ppt/notesMasters/notesMaster1.xml" Id="R3d2e147879824d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cb3b5bd49e4827" /><Relationship Type="http://schemas.openxmlformats.org/officeDocument/2006/relationships/notesMaster" Target="/ppt/notesMasters/notesMaster1.xml" Id="R566453ddd0fc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7f13055ea4835" /><Relationship Type="http://schemas.openxmlformats.org/officeDocument/2006/relationships/notesMaster" Target="/ppt/notesMasters/notesMaster1.xml" Id="R461988b92038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a4bb68d0934c58" /><Relationship Type="http://schemas.openxmlformats.org/officeDocument/2006/relationships/notesMaster" Target="/ppt/notesMasters/notesMaster1.xml" Id="R013be686b66c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fbe938b37c44fa" /><Relationship Type="http://schemas.openxmlformats.org/officeDocument/2006/relationships/notesMaster" Target="/ppt/notesMasters/notesMaster1.xml" Id="R581c516da486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client experience, not the technology. The proposition is to assemble the relevant situation before the client has to repeat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Hero image generated with OpenAI image generation for this presentation; local asset: E:/githubportable/contextql/docs/proposals/assets/contextql-discovery-hero.png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third possibility is deliberately cross-business but bounded: approved contextual signals can be combined without creating an unrestricted enterprise-wide client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ContextQL architecture: E:/githubportable/contextql/README.md</a:t>
            </a:r>
          </a:p>
          <a:p xmlns:a="http://schemas.openxmlformats.org/drawingml/2006/main">
            <a:r>
              <a:t>- Context resolution plane: E:/githubportable/contextql/docs/architecture/CONTEXT_RESOLUTION_PLANE.md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overlay, not a replacement for systems of record. Context definitions combine approved memberships locally. Detail retrieval occurs only after the relevant population is narrowed.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ContextQL architecture: E:/githubportable/contextql/README.md</a:t>
            </a:r>
          </a:p>
          <a:p xmlns:a="http://schemas.openxmlformats.org/drawingml/2006/main">
            <a:r>
              <a:t>- Context resolution plane: E:/githubportable/contextql/docs/architecture/CONTEXT_RESOLUTION_PLANE.md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 benefits are simplicity, speed, low incremental source overhead, a wide temporal overlay, and explainability. They compound because the integration and context definitions are reusable.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ContextQL architecture: E:/githubportable/contextql/README.md</a:t>
            </a:r>
          </a:p>
          <a:p xmlns:a="http://schemas.openxmlformats.org/drawingml/2006/main">
            <a:r>
              <a:t>- Context resolution plane: E:/githubportable/contextql/docs/architecture/CONTEXT_RESOLUTION_PLANE.md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use case: proactive client friction and service recovery. Guardrails: read-only sources, human review, no automated adverse decisions, no clinical or claims data in the first pilot, POPIA by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Discovery Integrated Annual Report 2025, strategy section: https://www.discovery.co.za/wcm/discoverycoza/assets/investor-relations/2025/discovery-integrated-annual-report.pdf</a:t>
            </a:r>
          </a:p>
          <a:p xmlns:a="http://schemas.openxmlformats.org/drawingml/2006/main">
            <a:r>
              <a:t>- Protection of Personal Information Act 4 of 2013: https://www.justice.gov.za/legislation/acts/2013-004.pdf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figures are a machine-specific synthetic proof, not a Discovery production performance claim. The pilot must validate source load, freshness, identity quality, business usefulness, and operational resilience in Discovery’s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ContextQL clean 10M benchmark: E:/githubportable/contextql/docs/benchmarks/post-trade-10m-2026-07-24.json</a:t>
            </a:r>
          </a:p>
          <a:p xmlns:a="http://schemas.openxmlformats.org/drawingml/2006/main">
            <a:r>
              <a:t>- Benchmark methodology: E:/githubportable/contextql/docs/benchmarks/README.md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328e5d252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7f75a917f40b1" /><Relationship Type="http://schemas.openxmlformats.org/officeDocument/2006/relationships/slideLayout" Target="/ppt/slideLayouts/slideLayout1.xml" Id="Re33a1a73a707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a1a73a707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8984ab3e9412b" /><Relationship Type="http://schemas.openxmlformats.org/officeDocument/2006/relationships/image" Target="/ppt/media/image.png" Id="Rd07ac28f3cc14c97" /><Relationship Type="http://schemas.openxmlformats.org/officeDocument/2006/relationships/notesSlide" Target="/ppt/notesSlides/notesSlide1.xml" Id="R3206bc591b98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6aac7f67b404f" /><Relationship Type="http://schemas.openxmlformats.org/officeDocument/2006/relationships/notesSlide" Target="/ppt/notesSlides/notesSlide2.xml" Id="Rad26d79f337a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4ccccd665436b" /><Relationship Type="http://schemas.openxmlformats.org/officeDocument/2006/relationships/notesSlide" Target="/ppt/notesSlides/notesSlide3.xml" Id="R3b185b748eb1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fb149e5cb45cf" /><Relationship Type="http://schemas.openxmlformats.org/officeDocument/2006/relationships/notesSlide" Target="/ppt/notesSlides/notesSlide4.xml" Id="Rde6f96f09cdc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998cc2dfd41e4" /><Relationship Type="http://schemas.openxmlformats.org/officeDocument/2006/relationships/notesSlide" Target="/ppt/notesSlides/notesSlide5.xml" Id="Rf743c4fd4fb2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a29467744430" /><Relationship Type="http://schemas.openxmlformats.org/officeDocument/2006/relationships/notesSlide" Target="/ppt/notesSlides/notesSlide6.xml" Id="R19d9d35678f149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E6375F4-8D6C-4650-B6C6-CF987A1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81BBA7C-AE71-48B8-8C89-7C8F163A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A8C8"/>
                </a:solidFill>
                <a:latin typeface="Arial"/>
                <a:ea typeface="Arial"/>
                <a:cs typeface="Arial"/>
              </a:rPr>
              <a:t>CONTEXTQL  ×  DISCOVERY BANK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2B27A66B-461E-4756-B35E-6E9DD666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ac28f3cc14c97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A82FB11-5B76-4C42-A724-5142A43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What if Discovery could see the whole client situation—before the client has to explain it?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A governed context overlay for faster, more human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14584880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A51FDB4-9A6F-4974-AE8F-BDDF8D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0916D04-75C3-4094-A2D0-CC36F0D2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Three possibilities change the client conversation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704E3B6-DEC5-490F-9947-5CC8FFD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0ED59FF2-572C-44C1-BB38-5D31106C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AF9086-E7B2-443F-B0BE-28A24FA4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Arrive with the case already built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Give the service colleague a concise, explainable timeline before the call begins.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EC68D70-E509-4644-859B-F0342C8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See across Discovery—selectively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Combine approved, time-aware context without copying every underlying record.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E74F3C3D-3FE1-4F8E-A892-06D29619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91895BE-C794-4778-AD7B-9BF6C94D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7E01D30C-606D-49E9-8596-D16F484A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11B245E-E48E-4FF4-99B2-58E97F14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Know what is happening now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Several related problems, what happened first, what remains unresolved—and who should act next.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0E82B85-C611-49D9-B63F-D66AB37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983F7492-692C-4DDF-80E6-5FE91C28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THE OPPORTUNITY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3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The evidence can already exist—across different systems, owners and moments in time.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The missing layer is a shared, explainable view of the situation now.</a:t>
            </a:r>
          </a:p>
        </p:txBody>
      </p:sp>
    </p:spTree>
    <p:extLst>
      <p:ext uri="{BB962C8B-B14F-4D97-AF65-F5344CB8AC3E}">
        <p14:creationId xmlns:p14="http://schemas.microsoft.com/office/powerpoint/2010/main" val="21213921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F0F5CB6-ADFA-4E94-8629-6F886E4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F3F5D64-3A5A-437A-9396-3F10F87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ContextQL resolves the situation; source systems retain the facts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FA79827-D1C7-441F-A18A-EF9B9630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8C8"/>
                </a:solidFill>
                <a:latin typeface="Arial"/>
                <a:ea typeface="Arial"/>
                <a:cs typeface="Arial"/>
              </a:rPr>
              <a:t>SIGNALS STAY WHERE THEY ARE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CRM cases · calls · app journeys · payments · product events
</a:t>
            </a:r>
            <a:r>
              <a:rPr sz="1725">
                <a:solidFill>
                  <a:srgbClr val="435466"/>
                </a:solidFill>
                <a:latin typeface="Arial"/>
                <a:ea typeface="Arial"/>
                <a:cs typeface="Arial"/>
              </a:rPr>
              <a:t>Read-only connectors publish only approved entity membership, timestamps and provenance.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62C38C2-9C74-4C0B-963D-B318B50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CONTEXT BECOMES REUSABLE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Named situations · time windows · provenance · priority
</a:t>
            </a:r>
            <a:r>
              <a:rPr sz="1725">
                <a:solidFill>
                  <a:srgbClr val="435466"/>
                </a:solidFill>
                <a:latin typeface="Arial"/>
                <a:ea typeface="Arial"/>
                <a:cs typeface="Arial"/>
              </a:rPr>
              <a:t>Combine locally → narrow the population → retrieve detail only for the final, relevant clients.</a:t>
            </a:r>
          </a:p>
        </p:txBody>
      </p:sp>
    </p:spTree>
    <p:extLst>
      <p:ext uri="{BB962C8B-B14F-4D97-AF65-F5344CB8AC3E}">
        <p14:creationId xmlns:p14="http://schemas.microsoft.com/office/powerpoint/2010/main" val="8508557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FCFEAE2-C337-4C6F-BA39-41833F6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24DD02A-4C01-47FB-B2D5-F243C44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One integration pattern creates three compounding advantages</a:t>
            </a:r>
          </a:p>
        </p:txBody>
      </p:sp>
      <p:sp>
        <p:nvSpPr>
          <p:cNvPr id="3" name="ContextQL-Benefit-Kicker">
            <a:extLst xmlns:a="http://schemas.openxmlformats.org/drawingml/2006/main">
              <a:ext uri="{FF2B5EF4-FFF2-40B4-BE49-F238E27FC236}">
                <a16:creationId xmlns:a16="http://schemas.microsoft.com/office/drawing/2014/main" id="{E23B6EE5-B6F4-4B4F-BC30-2EC6ACC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11404568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SIMPLE INTEGRATION   ·   FASTER DELIVERY   ·   LOW SOURCE OVERHEAD   ·   WIDE TEMPORAL VIEW   ·   EXPLAINABLE</a:t>
            </a:r>
          </a:p>
        </p:txBody>
      </p:sp>
      <p:sp>
        <p:nvSpPr>
          <p:cNvPr id="4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3B1C1F3A-632C-4ABB-92C9-6D19C52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A8C8"/>
                </a:solidFill>
                <a:latin typeface="Arial"/>
                <a:ea typeface="Arial"/>
                <a:cs typeface="Arial"/>
              </a:rPr>
              <a:t>Integrate once
</a:t>
            </a:r>
            <a:r>
              <a:rPr sz="1613">
                <a:solidFill>
                  <a:srgbClr val="435466"/>
                </a:solidFill>
                <a:latin typeface="Arial"/>
                <a:ea typeface="Arial"/>
                <a:cs typeface="Arial"/>
              </a:rPr>
              <a:t>Reuse approved signals across product, operations, risk and AI-assisted service.</a:t>
            </a:r>
          </a:p>
        </p:txBody>
      </p:sp>
      <p:sp>
        <p:nvSpPr>
          <p:cNvPr id="5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8CFC756-D9B3-4179-A6ED-EA1C4840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Build faster
</a:t>
            </a:r>
            <a:r>
              <a:rPr sz="1613">
                <a:solidFill>
                  <a:srgbClr val="435466"/>
                </a:solidFill>
                <a:latin typeface="Arial"/>
                <a:ea typeface="Arial"/>
                <a:cs typeface="Arial"/>
              </a:rPr>
              <a:t>New questions become governed context definitions—not another wide data pipeline.</a:t>
            </a:r>
          </a:p>
        </p:txBody>
      </p:sp>
      <p:sp>
        <p:nvSpPr>
          <p:cNvPr id="6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EA239527-E5CF-4126-B667-A2D243A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Operate lighter
</a:t>
            </a:r>
            <a:r>
              <a:rPr sz="1613">
                <a:solidFill>
                  <a:srgbClr val="435466"/>
                </a:solidFill>
                <a:latin typeface="Arial"/>
                <a:ea typeface="Arial"/>
                <a:cs typeface="Arial"/>
              </a:rPr>
              <a:t>Process each change once; answer many questions locally across time; retain provenance.</a:t>
            </a:r>
          </a:p>
        </p:txBody>
      </p:sp>
      <p:sp>
        <p:nvSpPr>
          <p:cNvPr id="7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0F70F10D-3989-485E-842B-B3FE988A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BF72E284-1E85-4100-900D-220A61F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24DD216D-E18A-4F43-8582-0C1F1B6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830986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449B4BF-7AA3-4EDC-B6B6-E1834E6B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808D0D4-6156-4CB1-BA6E-03422700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A controlled pilot can prove value in 8–12 weeks</a:t>
            </a:r>
          </a:p>
        </p:txBody>
      </p:sp>
      <p:sp>
        <p:nvSpPr>
          <p:cNvPr id="3" name="ContextQL-Pilot-Guardrails">
            <a:extLst xmlns:a="http://schemas.openxmlformats.org/drawingml/2006/main">
              <a:ext uri="{FF2B5EF4-FFF2-40B4-BE49-F238E27FC236}">
                <a16:creationId xmlns:a16="http://schemas.microsoft.com/office/drawing/2014/main" id="{CA969A4C-2FFD-48B1-B9C7-466E548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1404568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9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PILOT USE CASE   Proactive client friction and service recovery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READ-ONLY SOURCES   ·   SHADOW MODE   ·   HUMAN REVIEW   ·   POPIA BY DESIGN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5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CD3F062-3854-4E50-B10F-B15806DC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9FDEC8D-5A88-4B01-80C6-4615CE7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990A5D5-B45A-4A25-9F44-214B4C7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BE91A15-BCB7-45BE-96D4-881B6DEF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8C8"/>
                </a:solidFill>
                <a:latin typeface="Arial"/>
                <a:ea typeface="Arial"/>
                <a:cs typeface="Arial"/>
              </a:rPr>
              <a:t>WEEKS 1–2</a:t>
            </a:r>
          </a:p>
        </p:txBody>
      </p:sp>
      <p:sp>
        <p:nvSpPr>
          <p:cNvPr id="9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7A14E87-0115-4907-AC32-3E3B5F9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WEEKS 3–6</a:t>
            </a:r>
          </a:p>
        </p:txBody>
      </p:sp>
      <p:sp>
        <p:nvSpPr>
          <p:cNvPr id="10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976CF10-1D09-4BEB-AB2D-610B0A2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WEEKS 7–12</a:t>
            </a:r>
          </a:p>
        </p:txBody>
      </p:sp>
      <p:sp>
        <p:nvSpPr>
          <p:cNvPr id="11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CCF9F46-6D1D-4842-8D30-68F3C2FD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Connect + resolve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Build read-only connectors, identity mapping and validated contexts.</a:t>
            </a:r>
          </a:p>
        </p:txBody>
      </p:sp>
      <p:sp>
        <p:nvSpPr>
          <p:cNvPr id="12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194216D-B3CD-4A7D-842C-604E88D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Discover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Fix one use case, two sources, purpose and baselines.</a:t>
            </a:r>
          </a:p>
        </p:txBody>
      </p:sp>
      <p:sp>
        <p:nvSpPr>
          <p:cNvPr id="13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0D9B497-6731-40CE-BF9E-EC8CC45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Run in shadow mode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435466"/>
                </a:solidFill>
                <a:latin typeface="Arial"/>
                <a:ea typeface="Arial"/>
                <a:cs typeface="Arial"/>
              </a:rPr>
              <a:t>Measure usefulness, freshness, source load, recovery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2003000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38440CF-59B0-4C1E-85A5-F163FF3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1E62C41-262D-44C2-A812-E3D5CC48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CE7AC42-FBE9-489C-8F5F-69F637E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2F788FA-E422-4F71-88A9-5BB037F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8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8571C9D-E201-490B-BAA0-796FEB6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Evidence is sufficient to justify a Discovery pilot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0CFCBCA-9C16-41C6-99F9-7BC8BFD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35466"/>
                </a:solidFill>
                <a:latin typeface="Arial"/>
                <a:ea typeface="Arial"/>
                <a:cs typeface="Arial"/>
              </a:rPr>
              <a:t>transaction-shaped rows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4E55D14-195D-485E-9F50-BB6D570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35466"/>
                </a:solidFill>
                <a:latin typeface="Arial"/>
                <a:ea typeface="Arial"/>
                <a:cs typeface="Arial"/>
              </a:rPr>
              <a:t>bitmap composition in the measured run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0424126-B105-4ADB-93DC-70E7726C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35466"/>
                </a:solidFill>
                <a:latin typeface="Arial"/>
                <a:ea typeface="Arial"/>
                <a:cs typeface="Arial"/>
              </a:rPr>
              <a:t>context counts matched independent SQL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D107125-D2D1-4F08-8AC9-1A5F2E39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A8C8"/>
                </a:solidFill>
                <a:latin typeface="Arial"/>
                <a:ea typeface="Arial"/>
                <a:cs typeface="Arial"/>
              </a:rPr>
              <a:t>10M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B44029B-C815-4B46-ACDC-F0B73A8A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E26BFD3-3A23-4E3C-B50A-423AD898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8243A"/>
                </a:solidFill>
                <a:latin typeface="Arial"/>
                <a:ea typeface="Arial"/>
                <a:cs typeface="Arial"/>
              </a:rPr>
              <a:t>&lt;19 ms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99AD58B-D285-47DB-A925-F2249FA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34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006F"/>
                </a:solidFill>
                <a:latin typeface="Arial"/>
                <a:ea typeface="Arial"/>
                <a:cs typeface="Arial"/>
              </a:rPr>
              <a:t>DECISION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1A2A"/>
                </a:solidFill>
                <a:latin typeface="Arial"/>
                <a:ea typeface="Arial"/>
                <a:cs typeface="Arial"/>
              </a:rPr>
              <a:t>Approve a two-week discovery</a:t>
            </a:r>
            <a:r>
              <a:rPr sz="1725">
                <a:solidFill>
                  <a:srgbClr val="435466"/>
                </a:solidFill>
                <a:latin typeface="Arial"/>
                <a:ea typeface="Arial"/>
                <a:cs typeface="Arial"/>
              </a:rPr>
              <a:t> to define the use case, controls and fixed pilot scope. Discovery’s environment then validates business value and production fit.</a:t>
            </a:r>
          </a:p>
        </p:txBody>
      </p:sp>
    </p:spTree>
    <p:extLst>
      <p:ext uri="{BB962C8B-B14F-4D97-AF65-F5344CB8AC3E}">
        <p14:creationId xmlns:p14="http://schemas.microsoft.com/office/powerpoint/2010/main" val="95925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2026-07-31T14:49:21.1190000Z</dcterms:created>
  <dcterms:modified xsi:type="dcterms:W3CDTF">2026-07-31T14:49:21.1190000Z</dcterms:modified>
</coreProperties>
</file>