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fec11a9443243c9" /><Relationship Type="http://schemas.openxmlformats.org/officeDocument/2006/relationships/extended-properties" Target="/docProps/app.xml" Id="Red57382986d74b76" /><Relationship Type="http://schemas.openxmlformats.org/officeDocument/2006/relationships/officeDocument" Target="/ppt/presentation.xml" Id="Rb0fe07af78b643a7" /></Relationships>
</file>

<file path=ppt/presentation.xml><?xml version="1.0" encoding="utf-8"?>
<p:presentation xmlns:p="http://schemas.openxmlformats.org/presentationml/2006/main">
  <p:sldMasterIdLst>
    <p:sldMasterId xmlns:r="http://schemas.openxmlformats.org/officeDocument/2006/relationships" id="2147483648" r:id="R42360f0a74d34565"/>
  </p:sldMasterIdLst>
  <p:notesMasterIdLst>
    <p:notesMasterId xmlns:r="http://schemas.openxmlformats.org/officeDocument/2006/relationships" r:id="R5db139aa1b6d42ac"/>
  </p:notesMasterIdLst>
  <p:sldIdLst>
    <p:sldId xmlns:r="http://schemas.openxmlformats.org/officeDocument/2006/relationships" id="256" r:id="R8837497e73514e2a"/>
    <p:sldId xmlns:r="http://schemas.openxmlformats.org/officeDocument/2006/relationships" id="257" r:id="R800879f0aa7c406c"/>
    <p:sldId xmlns:r="http://schemas.openxmlformats.org/officeDocument/2006/relationships" id="258" r:id="R7b560499c40349ba"/>
    <p:sldId xmlns:r="http://schemas.openxmlformats.org/officeDocument/2006/relationships" id="259" r:id="R5e58a3ab21ca499d"/>
    <p:sldId xmlns:r="http://schemas.openxmlformats.org/officeDocument/2006/relationships" id="260" r:id="R67ee4163af154269"/>
    <p:sldId xmlns:r="http://schemas.openxmlformats.org/officeDocument/2006/relationships" id="261" r:id="R716045192cae47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881329c58ca04081" /><Relationship Type="http://schemas.openxmlformats.org/officeDocument/2006/relationships/slideMaster" Target="/ppt/slideMasters/slideMaster1.xml" Id="R42360f0a74d34565" /><Relationship Type="http://schemas.openxmlformats.org/officeDocument/2006/relationships/notesMaster" Target="/ppt/notesMasters/notesMaster1.xml" Id="R5db139aa1b6d42ac" /><Relationship Type="http://schemas.openxmlformats.org/officeDocument/2006/relationships/presProps" Target="/ppt/presProps.xml" Id="R1389b53189194a1f" /><Relationship Type="http://schemas.openxmlformats.org/officeDocument/2006/relationships/viewProps" Target="/ppt/viewProps.xml" Id="R8b9828dc9e9e4066" /><Relationship Type="http://schemas.openxmlformats.org/officeDocument/2006/relationships/tableStyles" Target="/ppt/tableStyles.xml" Id="R09aaf262dbb4447b" /><Relationship Type="http://schemas.openxmlformats.org/officeDocument/2006/relationships/slide" Target="/ppt/slides/slide1.xml" Id="R8837497e73514e2a" /><Relationship Type="http://schemas.openxmlformats.org/officeDocument/2006/relationships/slide" Target="/ppt/slides/slide2.xml" Id="R800879f0aa7c406c" /><Relationship Type="http://schemas.openxmlformats.org/officeDocument/2006/relationships/slide" Target="/ppt/slides/slide3.xml" Id="R7b560499c40349ba" /><Relationship Type="http://schemas.openxmlformats.org/officeDocument/2006/relationships/slide" Target="/ppt/slides/slide4.xml" Id="R5e58a3ab21ca499d" /><Relationship Type="http://schemas.openxmlformats.org/officeDocument/2006/relationships/slide" Target="/ppt/slides/slide5.xml" Id="R67ee4163af154269" /><Relationship Type="http://schemas.openxmlformats.org/officeDocument/2006/relationships/slide" Target="/ppt/slides/slide6.xml" Id="R716045192cae47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56cbd2c8d9416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0cc8ec700ae4bfa" /><Relationship Type="http://schemas.openxmlformats.org/officeDocument/2006/relationships/notesMaster" Target="/ppt/notesMasters/notesMaster1.xml" Id="Rf25857929a1b4b2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a88292b68b84cd7" /><Relationship Type="http://schemas.openxmlformats.org/officeDocument/2006/relationships/notesMaster" Target="/ppt/notesMasters/notesMaster1.xml" Id="R208fadd467b545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f34ae406244cd8" /><Relationship Type="http://schemas.openxmlformats.org/officeDocument/2006/relationships/notesMaster" Target="/ppt/notesMasters/notesMaster1.xml" Id="R4d76851e492c4a75"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6e8c7961864a06" /><Relationship Type="http://schemas.openxmlformats.org/officeDocument/2006/relationships/notesMaster" Target="/ppt/notesMasters/notesMaster1.xml" Id="R4e17cfb1c42d4fb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2bd5a95beb439f" /><Relationship Type="http://schemas.openxmlformats.org/officeDocument/2006/relationships/notesMaster" Target="/ppt/notesMasters/notesMaster1.xml" Id="R898fb5e0a5774e4f"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2aee0594664350" /><Relationship Type="http://schemas.openxmlformats.org/officeDocument/2006/relationships/notesMaster" Target="/ppt/notesMasters/notesMaster1.xml" Id="R8c2bf40051d442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client experience, not the technology. The concept assembles the relevant situation before the client has to repeat it.</a:t>
            </a:r>
          </a:p>
          <a:p xmlns:a="http://schemas.openxmlformats.org/drawingml/2006/main">
            <a:r>
              <a:t/>
            </a:r>
          </a:p>
          <a:p xmlns:a="http://schemas.openxmlformats.org/drawingml/2006/main">
            <a:r>
              <a:t>[Sources]</a:t>
            </a:r>
          </a:p>
          <a:p xmlns:a="http://schemas.openxmlformats.org/drawingml/2006/main">
            <a:r>
              <a:t>- Hero image generated with OpenAI image generation for this presentation; local asset: E:/githubportable/contextql/docs/proposals/assets/contextql-discovery-hero.png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sets the boundary. The first concept uses evidence already controlled by the Bank. It does not require unrestricted copies of source records. Context membership remains reusable, versioned and explainable.</a:t>
            </a:r>
          </a:p>
          <a:p xmlns:a="http://schemas.openxmlformats.org/drawingml/2006/main">
            <a:r>
              <a:t/>
            </a:r>
          </a:p>
          <a:p xmlns:a="http://schemas.openxmlformats.org/drawingml/2006/main">
            <a:r>
              <a:t>[Sources]</a:t>
            </a:r>
          </a:p>
          <a:p xmlns:a="http://schemas.openxmlformats.org/drawingml/2006/main">
            <a:r>
              <a:t>- ContextQL architecture: E:/githubportable/contextql/README.md</a:t>
            </a:r>
          </a:p>
          <a:p xmlns:a="http://schemas.openxmlformats.org/drawingml/2006/main">
            <a:r>
              <a:t>- Context resolution plane: E:/githubportable/contextql/docs/architecture/CONTEXT_RESOLUTION_PLANE.md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scenario using synthetic identifiers. Each bitmap row is current membership in one named context. ContextQL composes the memberships locally to identify the overlapping situation. Timestamps, history, evidence and provenance remain outside the bitmap snapshot and support explanation.</a:t>
            </a:r>
          </a:p>
          <a:p xmlns:a="http://schemas.openxmlformats.org/drawingml/2006/main">
            <a:r>
              <a:t/>
            </a:r>
          </a:p>
          <a:p xmlns:a="http://schemas.openxmlformats.org/drawingml/2006/main">
            <a:r>
              <a:t>[Sources]</a:t>
            </a:r>
          </a:p>
          <a:p xmlns:a="http://schemas.openxmlformats.org/drawingml/2006/main">
            <a:r>
              <a:t>- Bitmap storage model: E:/githubportable/contextql/docs/architecture/BITMAP_CONTEXT_STORAGE.md</a:t>
            </a:r>
          </a:p>
          <a:p xmlns:a="http://schemas.openxmlformats.org/drawingml/2006/main">
            <a:r>
              <a:t>- Context resolution plane: E:/githubportable/contextql/docs/architecture/CONTEXT_RESOLUTION_PLANE.md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service scenario. The concept does not presume lounge eligibility. It gives the colleague the card relationship, relevant servicing history and unresolved work needed to confirm eligibility and resolve the client's issue.</a:t>
            </a:r>
          </a:p>
          <a:p xmlns:a="http://schemas.openxmlformats.org/drawingml/2006/main">
            <a:r>
              <a:t/>
            </a:r>
          </a:p>
          <a:p xmlns:a="http://schemas.openxmlformats.org/drawingml/2006/main">
            <a:r>
              <a:t>[Sources]</a:t>
            </a:r>
          </a:p>
          <a:p xmlns:a="http://schemas.openxmlformats.org/drawingml/2006/main">
            <a:r>
              <a:t>- Discovery Bank card information: https://www.discovery.co.za/bank/info-and-tips-your-discovery-bank-cards</a:t>
            </a:r>
          </a:p>
          <a:p xmlns:a="http://schemas.openxmlformats.org/drawingml/2006/main">
            <a:r>
              <a:t>- Discovery Bank travel benefits and rewards: https://www.discovery.co.za/bank/info-and-tips-travel-benefits-and-rewards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Bank can act on what it owns: the payment route, mandate, contact history and case handling. The underlying Health, Vitality, Insure or Invest entitlement remains explicitly unknown until an approved future context confirms it. This distinction prevents the concept from overclaiming cross-Discovery visibility.</a:t>
            </a:r>
          </a:p>
          <a:p xmlns:a="http://schemas.openxmlformats.org/drawingml/2006/main">
            <a:r>
              <a:t/>
            </a:r>
          </a:p>
          <a:p xmlns:a="http://schemas.openxmlformats.org/drawingml/2006/main">
            <a:r>
              <a:t>[Sources]</a:t>
            </a:r>
          </a:p>
          <a:p xmlns:a="http://schemas.openxmlformats.org/drawingml/2006/main">
            <a:r>
              <a:t>- Context resolution plane: E:/githubportable/contextql/docs/architecture/CONTEXT_RESOLUTION_PLANE.md</a:t>
            </a:r>
          </a:p>
          <a:p xmlns:a="http://schemas.openxmlformats.org/drawingml/2006/main">
            <a:r>
              <a:t>- Provider contracts: E:/githubportable/contextql/contextql/providers/base.py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client and colleague outcomes. The concept is not a replacement for source systems or a new enterprise data copy. It is a governed overlay that composes reusable contexts from approved evidence and retains provenance for explanation.</a:t>
            </a:r>
          </a:p>
          <a:p xmlns:a="http://schemas.openxmlformats.org/drawingml/2006/main">
            <a:r>
              <a:t/>
            </a:r>
          </a:p>
          <a:p xmlns:a="http://schemas.openxmlformats.org/drawingml/2006/main">
            <a:r>
              <a:t>[Sources]</a:t>
            </a:r>
          </a:p>
          <a:p xmlns:a="http://schemas.openxmlformats.org/drawingml/2006/main">
            <a:r>
              <a:t>- ContextQL architecture: E:/githubportable/contextql/README.md</a:t>
            </a:r>
          </a:p>
          <a:p xmlns:a="http://schemas.openxmlformats.org/drawingml/2006/main">
            <a:r>
              <a:t>- Context resolution plane: E:/githubportable/contextql/docs/architecture/CONTEXT_RESOLUTION_PLANE.md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0628d6ee5d94a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49430d4c29d4bb7" /><Relationship Type="http://schemas.openxmlformats.org/officeDocument/2006/relationships/slideLayout" Target="/ppt/slideLayouts/slideLayout1.xml" Id="R7d8a973e8b3146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8a973e8b3146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3688809f7dc4113" /><Relationship Type="http://schemas.openxmlformats.org/officeDocument/2006/relationships/image" Target="/ppt/media/image.png" Id="Rd52cd00f0a4c49ab" /><Relationship Type="http://schemas.openxmlformats.org/officeDocument/2006/relationships/notesSlide" Target="/ppt/notesSlides/notesSlide1.xml" Id="R820a554cd6084b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9f0870a684a4ef6" /><Relationship Type="http://schemas.openxmlformats.org/officeDocument/2006/relationships/notesSlide" Target="/ppt/notesSlides/notesSlide2.xml" Id="R68b89c3f4e0d463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687d657d0646ca" /><Relationship Type="http://schemas.openxmlformats.org/officeDocument/2006/relationships/notesSlide" Target="/ppt/notesSlides/notesSlide3.xml" Id="Rbdf437102fd54df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7972d0a3cc4bf4" /><Relationship Type="http://schemas.openxmlformats.org/officeDocument/2006/relationships/notesSlide" Target="/ppt/notesSlides/notesSlide4.xml" Id="R4c0451bbe5b341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40c49408ad74fd4" /><Relationship Type="http://schemas.openxmlformats.org/officeDocument/2006/relationships/notesSlide" Target="/ppt/notesSlides/notesSlide5.xml" Id="R696ee682b19f4a5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11e1195e544b72" /><Relationship Type="http://schemas.openxmlformats.org/officeDocument/2006/relationships/notesSlide" Target="/ppt/notesSlides/notesSlide6.xml" Id="R6a84b5db7f5c4b7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1E6375F4-8D6C-4650-B6C6-CF987A195E5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01</a:t>
            </a:r>
          </a:p>
        </p:txBody>
      </p:sp>
      <p:sp>
        <p:nvSpPr>
          <p:cNvPr id="2" name="Google-Shape-533-p58-3">
            <a:extLst xmlns:a="http://schemas.openxmlformats.org/drawingml/2006/main">
              <a:ext uri="{FF2B5EF4-FFF2-40B4-BE49-F238E27FC236}">
                <a16:creationId xmlns:a16="http://schemas.microsoft.com/office/drawing/2014/main" id="{D81BBA7C-AE71-48B8-8C89-7C8F163A959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spcAft>
                <a:spcPts val="0"/>
              </a:spcAft>
              <a:buNone/>
              <a:defRPr sz="2900">
                <a:solidFill>
                  <a:srgbClr val="000000"/>
                </a:solidFill>
                <a:latin typeface="Helvetica Neue"/>
                <a:ea typeface="Helvetica Neue"/>
                <a:cs typeface="Helvetica Neue"/>
              </a:defRPr>
            </a:pPr>
            <a:r>
              <a:rPr sz="1425" b="1">
                <a:solidFill>
                  <a:srgbClr val="00A8C8"/>
                </a:solidFill>
                <a:latin typeface="Arial"/>
                <a:ea typeface="Arial"/>
                <a:cs typeface="Arial"/>
              </a:rPr>
              <a:t>CONTEXTQL + DISCOVERY BANK</a:t>
            </a:r>
          </a:p>
        </p:txBody>
      </p:sp>
      <p:pic>
        <p:nvPicPr>
          <p:cNvPr id="10" name="Picture-3-4"/>
          <p:cNvPicPr>
            <a:picLocks xmlns:a="http://schemas.openxmlformats.org/drawingml/2006/main" noChangeAspect="1"/>
          </p:cNvPicPr>
          <p:nvPr/>
        </p:nvPicPr>
        <p:blipFill>
          <a:blip xmlns:r="http://schemas.openxmlformats.org/officeDocument/2006/relationships" xmlns:a="http://schemas.openxmlformats.org/drawingml/2006/main" r:embed="Rd52cd00f0a4c49ab"/>
          <a:srcRect xmlns:a="http://schemas.openxmlformats.org/drawingml/2006/main" l="556" t="0" r="556"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prstGeom>
        </p:spPr>
      </p:pic>
      <p:sp>
        <p:nvSpPr>
          <p:cNvPr id="5" name="Google-Shape-534-p58-5">
            <a:extLst xmlns:a="http://schemas.openxmlformats.org/drawingml/2006/main">
              <a:ext uri="{FF2B5EF4-FFF2-40B4-BE49-F238E27FC236}">
                <a16:creationId xmlns:a16="http://schemas.microsoft.com/office/drawing/2014/main" id="{8A82FB11-5B76-4C42-A724-5142A43432E5}"/>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430"/>
              </a:spcAft>
              <a:buNone/>
            </a:pPr>
            <a:r>
              <a:rPr sz="3600" b="1">
                <a:solidFill>
                  <a:srgbClr val="071A2A"/>
                </a:solidFill>
                <a:latin typeface="Arial"/>
                <a:ea typeface="Arial"/>
                <a:cs typeface="Arial"/>
              </a:rPr>
              <a:t>What if Discovery could see the whole client situation before the client has to explain it?</a:t>
            </a:r>
          </a:p>
          <a:p xmlns:a="http://schemas.openxmlformats.org/drawingml/2006/main">
            <a:pPr>
              <a:lnSpc>
                <a:spcPct val="110000"/>
              </a:lnSpc>
              <a:spcAft>
                <a:spcPts val="0"/>
              </a:spcAft>
              <a:buNone/>
            </a:pPr>
            <a:r>
              <a:rPr sz="1800" b="0">
                <a:solidFill>
                  <a:srgbClr val="435466"/>
                </a:solidFill>
                <a:latin typeface="Arial"/>
                <a:ea typeface="Arial"/>
                <a:cs typeface="Arial"/>
              </a:rPr>
              <a:t>A governed context overlay for faster, more human service decisions.</a:t>
            </a:r>
          </a:p>
        </p:txBody>
      </p:sp>
    </p:spTree>
    <p:extLst>
      <p:ext uri="{BB962C8B-B14F-4D97-AF65-F5344CB8AC3E}">
        <p14:creationId xmlns:p14="http://schemas.microsoft.com/office/powerpoint/2010/main" val="145848806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5A51FDB4-9A6F-4974-AE8F-BDDF8D7AFE0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02</a:t>
            </a:r>
          </a:p>
        </p:txBody>
      </p:sp>
      <p:sp>
        <p:nvSpPr>
          <p:cNvPr id="2" name="Google-Shape-533-p58-3">
            <a:extLst xmlns:a="http://schemas.openxmlformats.org/drawingml/2006/main">
              <a:ext uri="{FF2B5EF4-FFF2-40B4-BE49-F238E27FC236}">
                <a16:creationId xmlns:a16="http://schemas.microsoft.com/office/drawing/2014/main" id="{A0916D04-75C3-4094-A2D0-CC36F0D295B9}"/>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98000"/>
              </a:lnSpc>
              <a:spcAft>
                <a:spcPts val="0"/>
              </a:spcAft>
              <a:buNone/>
            </a:pPr>
            <a:r>
              <a:rPr sz="3375" b="1">
                <a:solidFill>
                  <a:srgbClr val="071A2A"/>
                </a:solidFill>
                <a:latin typeface="Arial"/>
                <a:ea typeface="Arial"/>
                <a:cs typeface="Arial"/>
              </a:rPr>
              <a:t>The Bank can already see enough to understand the situation</a:t>
            </a:r>
          </a:p>
        </p:txBody>
      </p:sp>
      <p:sp>
        <p:nvSpPr>
          <p:cNvPr id="3" name="Rounded-Rectangle-9-4">
            <a:extLst xmlns:a="http://schemas.openxmlformats.org/drawingml/2006/main">
              <a:ext uri="{FF2B5EF4-FFF2-40B4-BE49-F238E27FC236}">
                <a16:creationId xmlns:a16="http://schemas.microsoft.com/office/drawing/2014/main" id="{D704E3B6-DEC5-490F-9947-5CC8FFD499B3}"/>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4" name="Rounded-Rectangle-10-5">
            <a:extLst xmlns:a="http://schemas.openxmlformats.org/drawingml/2006/main">
              <a:ext uri="{FF2B5EF4-FFF2-40B4-BE49-F238E27FC236}">
                <a16:creationId xmlns:a16="http://schemas.microsoft.com/office/drawing/2014/main" id="{0ED59FF2-572C-44C1-BB38-5D31106C04A0}"/>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5" name="Content-Placeholder-9-6">
            <a:extLst xmlns:a="http://schemas.openxmlformats.org/drawingml/2006/main">
              <a:ext uri="{FF2B5EF4-FFF2-40B4-BE49-F238E27FC236}">
                <a16:creationId xmlns:a16="http://schemas.microsoft.com/office/drawing/2014/main" id="{40AF9086-E7B2-443F-B0BE-28A24FA44DA6}"/>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Compose the situation</a:t>
            </a:r>
          </a:p>
          <a:p xmlns:a="http://schemas.openxmlformats.org/drawingml/2006/main">
            <a:pPr>
              <a:lnSpc>
                <a:spcPct val="112000"/>
              </a:lnSpc>
              <a:spcAft>
                <a:spcPts val="0"/>
              </a:spcAft>
              <a:buNone/>
            </a:pPr>
            <a:r>
              <a:rPr sz="1575" b="0">
                <a:solidFill>
                  <a:srgbClr val="435466"/>
                </a:solidFill>
                <a:latin typeface="Arial"/>
                <a:ea typeface="Arial"/>
                <a:cs typeface="Arial"/>
              </a:rPr>
              <a:t>Versioned contexts reveal what overlaps, what came first and what remains unresolved.</a:t>
            </a:r>
          </a:p>
        </p:txBody>
      </p:sp>
      <p:sp>
        <p:nvSpPr>
          <p:cNvPr id="6" name="Content-Placeholder-10-7">
            <a:extLst xmlns:a="http://schemas.openxmlformats.org/drawingml/2006/main">
              <a:ext uri="{FF2B5EF4-FFF2-40B4-BE49-F238E27FC236}">
                <a16:creationId xmlns:a16="http://schemas.microsoft.com/office/drawing/2014/main" id="{3EC68D70-E509-4644-859B-F0342C878306}"/>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Prepare the action</a:t>
            </a:r>
          </a:p>
          <a:p xmlns:a="http://schemas.openxmlformats.org/drawingml/2006/main">
            <a:pPr>
              <a:lnSpc>
                <a:spcPct val="112000"/>
              </a:lnSpc>
              <a:spcAft>
                <a:spcPts val="0"/>
              </a:spcAft>
              <a:buNone/>
            </a:pPr>
            <a:r>
              <a:rPr sz="1575" b="0">
                <a:solidFill>
                  <a:srgbClr val="435466"/>
                </a:solidFill>
                <a:latin typeface="Arial"/>
                <a:ea typeface="Arial"/>
                <a:cs typeface="Arial"/>
              </a:rPr>
              <a:t>Give the colleague one explainable case, one accountable owner and a clear next step.</a:t>
            </a:r>
          </a:p>
        </p:txBody>
      </p:sp>
      <p:sp>
        <p:nvSpPr>
          <p:cNvPr id="7" name="Google-Shape-340-p61-8">
            <a:extLst xmlns:a="http://schemas.openxmlformats.org/drawingml/2006/main">
              <a:ext uri="{FF2B5EF4-FFF2-40B4-BE49-F238E27FC236}">
                <a16:creationId xmlns:a16="http://schemas.microsoft.com/office/drawing/2014/main" id="{E74F3C3D-3FE1-4F8E-A892-06D29619B8FB}"/>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rect l="0" t="0" r="0" b="0"/>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8" name="Google-Shape-340-p61-9">
            <a:extLst xmlns:a="http://schemas.openxmlformats.org/drawingml/2006/main">
              <a:ext uri="{FF2B5EF4-FFF2-40B4-BE49-F238E27FC236}">
                <a16:creationId xmlns:a16="http://schemas.microsoft.com/office/drawing/2014/main" id="{391895BE-C794-4778-AD7B-9BF6C94D5EBD}"/>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rect l="0" t="0" r="0" b="0"/>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9" name="Rounded-Rectangle-5-10">
            <a:extLst xmlns:a="http://schemas.openxmlformats.org/drawingml/2006/main">
              <a:ext uri="{FF2B5EF4-FFF2-40B4-BE49-F238E27FC236}">
                <a16:creationId xmlns:a16="http://schemas.microsoft.com/office/drawing/2014/main" id="{7E01D30C-606D-49E9-8596-D16F484AE4F2}"/>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10" name="Content-Placeholder-9-11">
            <a:extLst xmlns:a="http://schemas.openxmlformats.org/drawingml/2006/main">
              <a:ext uri="{FF2B5EF4-FFF2-40B4-BE49-F238E27FC236}">
                <a16:creationId xmlns:a16="http://schemas.microsoft.com/office/drawing/2014/main" id="{E11B245E-E48E-4FF4-99B2-58E97F142476}"/>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Observe the signals</a:t>
            </a:r>
          </a:p>
          <a:p xmlns:a="http://schemas.openxmlformats.org/drawingml/2006/main">
            <a:pPr>
              <a:lnSpc>
                <a:spcPct val="112000"/>
              </a:lnSpc>
              <a:spcAft>
                <a:spcPts val="0"/>
              </a:spcAft>
              <a:buNone/>
            </a:pPr>
            <a:r>
              <a:rPr sz="1575" b="0">
                <a:solidFill>
                  <a:srgbClr val="435466"/>
                </a:solidFill>
                <a:latin typeface="Arial"/>
                <a:ea typeface="Arial"/>
                <a:cs typeface="Arial"/>
              </a:rPr>
              <a:t>Payments, cards, fees, app journeys, cases, complaints and contact.</a:t>
            </a:r>
          </a:p>
        </p:txBody>
      </p:sp>
      <p:sp>
        <p:nvSpPr>
          <p:cNvPr id="11" name="Google-Shape-340-p61-12">
            <a:extLst xmlns:a="http://schemas.openxmlformats.org/drawingml/2006/main">
              <a:ext uri="{FF2B5EF4-FFF2-40B4-BE49-F238E27FC236}">
                <a16:creationId xmlns:a16="http://schemas.microsoft.com/office/drawing/2014/main" id="{70E82B85-C611-49D9-B63F-D66AB37FCA42}"/>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rect l="0" t="0" r="0" b="0"/>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12" name="Content-Placeholder-15-13">
            <a:extLst xmlns:a="http://schemas.openxmlformats.org/drawingml/2006/main">
              <a:ext uri="{FF2B5EF4-FFF2-40B4-BE49-F238E27FC236}">
                <a16:creationId xmlns:a16="http://schemas.microsoft.com/office/drawing/2014/main" id="{983F7492-692C-4DDF-80E6-5FE91C285C59}"/>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170"/>
              </a:spcAft>
              <a:buNone/>
            </a:pPr>
            <a:r>
              <a:rPr sz="1350" b="1">
                <a:solidFill>
                  <a:srgbClr val="D6006F"/>
                </a:solidFill>
                <a:latin typeface="Arial"/>
                <a:ea typeface="Arial"/>
                <a:cs typeface="Arial"/>
              </a:rPr>
              <a:t>THE OPPORTUNITY</a:t>
            </a:r>
          </a:p>
          <a:p xmlns:a="http://schemas.openxmlformats.org/drawingml/2006/main">
            <a:pPr>
              <a:lnSpc>
                <a:spcPct val="106000"/>
              </a:lnSpc>
              <a:spcAft>
                <a:spcPts val="140"/>
              </a:spcAft>
              <a:buNone/>
            </a:pPr>
            <a:r>
              <a:rPr sz="1800" b="0">
                <a:solidFill>
                  <a:srgbClr val="435466"/>
                </a:solidFill>
                <a:latin typeface="Arial"/>
                <a:ea typeface="Arial"/>
                <a:cs typeface="Arial"/>
              </a:rPr>
              <a:t>Bank-controlled evidence exists across payments, cards, digital activity and service operations.</a:t>
            </a:r>
          </a:p>
          <a:p xmlns:a="http://schemas.openxmlformats.org/drawingml/2006/main">
            <a:pPr>
              <a:lnSpc>
                <a:spcPct val="103000"/>
              </a:lnSpc>
              <a:spcAft>
                <a:spcPts val="0"/>
              </a:spcAft>
              <a:buNone/>
            </a:pPr>
            <a:r>
              <a:rPr sz="1875" b="1">
                <a:solidFill>
                  <a:srgbClr val="071A2A"/>
                </a:solidFill>
                <a:latin typeface="Arial"/>
                <a:ea typeface="Arial"/>
                <a:cs typeface="Arial"/>
              </a:rPr>
              <a:t>ContextQL turns approved events into reusable, time-aware client context.</a:t>
            </a:r>
          </a:p>
        </p:txBody>
      </p:sp>
    </p:spTree>
    <p:extLst>
      <p:ext uri="{BB962C8B-B14F-4D97-AF65-F5344CB8AC3E}">
        <p14:creationId xmlns:p14="http://schemas.microsoft.com/office/powerpoint/2010/main" val="212139212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FCFEAE2-C337-4C6F-BA39-41833F61B33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03</a:t>
            </a:r>
          </a:p>
        </p:txBody>
      </p:sp>
      <p:sp>
        <p:nvSpPr>
          <p:cNvPr id="2" name="Google-Shape-533-p58-3">
            <a:extLst xmlns:a="http://schemas.openxmlformats.org/drawingml/2006/main">
              <a:ext uri="{FF2B5EF4-FFF2-40B4-BE49-F238E27FC236}">
                <a16:creationId xmlns:a16="http://schemas.microsoft.com/office/drawing/2014/main" id="{824DD02A-4C01-47FB-B2D5-F243C44A115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98000"/>
              </a:lnSpc>
              <a:spcAft>
                <a:spcPts val="0"/>
              </a:spcAft>
              <a:buNone/>
            </a:pPr>
            <a:r>
              <a:rPr sz="3225" b="1">
                <a:solidFill>
                  <a:srgbClr val="071A2A"/>
                </a:solidFill>
                <a:latin typeface="Arial"/>
                <a:ea typeface="Arial"/>
                <a:cs typeface="Arial"/>
              </a:rPr>
              <a:t>Example 1 - several Bank signals become one service situation</a:t>
            </a:r>
          </a:p>
        </p:txBody>
      </p:sp>
      <p:sp>
        <p:nvSpPr>
          <p:cNvPr id="3" name="ContextQL-Benefit-Kicker">
            <a:extLst xmlns:a="http://schemas.openxmlformats.org/drawingml/2006/main">
              <a:ext uri="{FF2B5EF4-FFF2-40B4-BE49-F238E27FC236}">
                <a16:creationId xmlns:a16="http://schemas.microsoft.com/office/drawing/2014/main" id="{E23B6EE5-B6F4-4B4F-BC30-2EC6ACC5CBC1}"/>
              </a:ext>
            </a:extLst>
          </p:cNvPr>
          <p:cNvSpPr>
            <a:spLocks xmlns:a="http://schemas.openxmlformats.org/drawingml/2006/main" noGrp="1"/>
          </p:cNvSpPr>
          <p:nvPr/>
        </p:nvSpPr>
        <p:spPr>
          <a:xfrm xmlns:a="http://schemas.openxmlformats.org/drawingml/2006/main">
            <a:off x="393668" y="1657350"/>
            <a:ext cx="11404568" cy="495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0"/>
              </a:spcAft>
              <a:buNone/>
            </a:pPr>
            <a:r>
              <a:rPr sz="1275" b="1">
                <a:solidFill>
                  <a:srgbClr val="D6006F"/>
                </a:solidFill>
                <a:latin typeface="Arial"/>
                <a:ea typeface="Arial"/>
                <a:cs typeface="Arial"/>
              </a:rPr>
              <a:t>BANK EVENTS   &gt;   VERSIONED CONTEXTS   &gt;   ONE NEXT ACTION</a:t>
            </a:r>
          </a:p>
        </p:txBody>
      </p:sp>
      <p:sp>
        <p:nvSpPr>
          <p:cNvPr id="4" name="Google-Shape-558-p61-4">
            <a:extLst xmlns:a="http://schemas.openxmlformats.org/drawingml/2006/main">
              <a:ext uri="{FF2B5EF4-FFF2-40B4-BE49-F238E27FC236}">
                <a16:creationId xmlns:a16="http://schemas.microsoft.com/office/drawing/2014/main" id="{3B1C1F3A-632C-4ABB-92C9-6D19C5256C8D}"/>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80"/>
              </a:spcAft>
              <a:buNone/>
            </a:pPr>
            <a:r>
              <a:rPr sz="2325" b="1">
                <a:solidFill>
                  <a:srgbClr val="00A8C8"/>
                </a:solidFill>
                <a:latin typeface="Arial"/>
                <a:ea typeface="Arial"/>
                <a:cs typeface="Arial"/>
              </a:rPr>
              <a:t>What the Bank sees</a:t>
            </a:r>
          </a:p>
          <a:p xmlns:a="http://schemas.openxmlformats.org/drawingml/2006/main">
            <a:pPr>
              <a:lnSpc>
                <a:spcPct val="112000"/>
              </a:lnSpc>
              <a:spcAft>
                <a:spcPts val="0"/>
              </a:spcAft>
              <a:buNone/>
            </a:pPr>
            <a:r>
              <a:rPr sz="1500" b="0">
                <a:solidFill>
                  <a:srgbClr val="435466"/>
                </a:solidFill>
                <a:latin typeface="Arial"/>
                <a:ea typeface="Arial"/>
                <a:cs typeface="Arial"/>
              </a:rPr>
              <a:t>Card payment decline
App authentication failure
Repeat contact within 48 hours
Case still open past promise</a:t>
            </a:r>
          </a:p>
        </p:txBody>
      </p:sp>
      <p:sp>
        <p:nvSpPr>
          <p:cNvPr id="5" name="Google-Shape-559-p61-5">
            <a:extLst xmlns:a="http://schemas.openxmlformats.org/drawingml/2006/main">
              <a:ext uri="{FF2B5EF4-FFF2-40B4-BE49-F238E27FC236}">
                <a16:creationId xmlns:a16="http://schemas.microsoft.com/office/drawing/2014/main" id="{68CFC756-D9B3-4179-A6ED-EA1C4840CDFF}"/>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80"/>
              </a:spcAft>
              <a:buNone/>
            </a:pPr>
            <a:r>
              <a:rPr sz="2325" b="1">
                <a:solidFill>
                  <a:srgbClr val="D6006F"/>
                </a:solidFill>
                <a:latin typeface="Arial"/>
                <a:ea typeface="Arial"/>
                <a:cs typeface="Arial"/>
              </a:rPr>
              <a:t>ContextQL composes</a:t>
            </a:r>
          </a:p>
          <a:p xmlns:a="http://schemas.openxmlformats.org/drawingml/2006/main">
            <a:pPr>
              <a:lnSpc>
                <a:spcPct val="112000"/>
              </a:lnSpc>
              <a:spcAft>
                <a:spcPts val="0"/>
              </a:spcAft>
              <a:buNone/>
            </a:pPr>
            <a:r>
              <a:rPr sz="1500" b="0">
                <a:solidFill>
                  <a:srgbClr val="435466"/>
                </a:solidFill>
                <a:latin typeface="Arial"/>
                <a:ea typeface="Arial"/>
                <a:cs typeface="Arial"/>
              </a:rPr>
              <a:t>Validate client ID and time
Version each change
Combine approved signals
Preserve source provenance</a:t>
            </a:r>
          </a:p>
        </p:txBody>
      </p:sp>
      <p:sp>
        <p:nvSpPr>
          <p:cNvPr id="6" name="Google-Shape-560-p61-6">
            <a:extLst xmlns:a="http://schemas.openxmlformats.org/drawingml/2006/main">
              <a:ext uri="{FF2B5EF4-FFF2-40B4-BE49-F238E27FC236}">
                <a16:creationId xmlns:a16="http://schemas.microsoft.com/office/drawing/2014/main" id="{EA239527-E5CF-4126-B667-A2D243A012BF}"/>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40"/>
              </a:spcAft>
              <a:buNone/>
            </a:pPr>
            <a:r>
              <a:rPr sz="2325" b="1">
                <a:solidFill>
                  <a:srgbClr val="08243A"/>
                </a:solidFill>
                <a:latin typeface="Arial"/>
                <a:ea typeface="Arial"/>
                <a:cs typeface="Arial"/>
              </a:rPr>
              <a:t>Reusable membership</a:t>
            </a:r>
          </a:p>
          <a:p xmlns:a="http://schemas.openxmlformats.org/drawingml/2006/main">
            <a:pPr>
              <a:lnSpc>
                <a:spcPct val="105000"/>
              </a:lnSpc>
              <a:spcAft>
                <a:spcPts val="240"/>
              </a:spcAft>
              <a:buNone/>
            </a:pPr>
            <a:r>
              <a:rPr sz="1238" b="0">
                <a:solidFill>
                  <a:srgbClr val="435466"/>
                </a:solidFill>
                <a:latin typeface="Consolas"/>
                <a:ea typeface="Consolas"/>
                <a:cs typeface="Consolas"/>
              </a:rPr>
              <a:t>IDs              41 42 43 44 45
service_friction 0  1  1  0  1
repeat_contact   0  1  0  0  1
past_promise     0  1  1  0  0</a:t>
            </a:r>
          </a:p>
          <a:p xmlns:a="http://schemas.openxmlformats.org/drawingml/2006/main">
            <a:pPr>
              <a:lnSpc>
                <a:spcPct val="100000"/>
              </a:lnSpc>
              <a:spcAft>
                <a:spcPts val="120"/>
              </a:spcAft>
              <a:buNone/>
            </a:pPr>
            <a:r>
              <a:rPr sz="1425" b="1">
                <a:solidFill>
                  <a:srgbClr val="08243A"/>
                </a:solidFill>
                <a:latin typeface="Arial"/>
                <a:ea typeface="Arial"/>
                <a:cs typeface="Arial"/>
              </a:rPr>
              <a:t>AND  &gt;  client 42</a:t>
            </a:r>
          </a:p>
          <a:p xmlns:a="http://schemas.openxmlformats.org/drawingml/2006/main">
            <a:pPr>
              <a:lnSpc>
                <a:spcPct val="100000"/>
              </a:lnSpc>
              <a:spcAft>
                <a:spcPts val="0"/>
              </a:spcAft>
              <a:buNone/>
            </a:pPr>
            <a:r>
              <a:rPr sz="1350" b="1">
                <a:solidFill>
                  <a:srgbClr val="D6006F"/>
                </a:solidFill>
                <a:latin typeface="Arial"/>
                <a:ea typeface="Arial"/>
                <a:cs typeface="Arial"/>
              </a:rPr>
              <a:t>Next: service recovery owner</a:t>
            </a:r>
          </a:p>
        </p:txBody>
      </p:sp>
      <p:sp>
        <p:nvSpPr>
          <p:cNvPr id="7" name="Google-Shape-561-p61-7">
            <a:extLst xmlns:a="http://schemas.openxmlformats.org/drawingml/2006/main">
              <a:ext uri="{FF2B5EF4-FFF2-40B4-BE49-F238E27FC236}">
                <a16:creationId xmlns:a16="http://schemas.microsoft.com/office/drawing/2014/main" id="{0F70F10D-3989-485E-842B-B3FE988A181D}"/>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rect l="0" t="0" r="0" b="0"/>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8" name="Google-Shape-562-p61-8">
            <a:extLst xmlns:a="http://schemas.openxmlformats.org/drawingml/2006/main">
              <a:ext uri="{FF2B5EF4-FFF2-40B4-BE49-F238E27FC236}">
                <a16:creationId xmlns:a16="http://schemas.microsoft.com/office/drawing/2014/main" id="{BF72E284-1E85-4100-900D-220A61FA52F1}"/>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rect l="0" t="0" r="0" b="0"/>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9" name="Google-Shape-563-p61-9">
            <a:extLst xmlns:a="http://schemas.openxmlformats.org/drawingml/2006/main">
              <a:ext uri="{FF2B5EF4-FFF2-40B4-BE49-F238E27FC236}">
                <a16:creationId xmlns:a16="http://schemas.microsoft.com/office/drawing/2014/main" id="{24DD216D-E18A-4F43-8582-0C1F1B610757}"/>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rect l="0" t="0" r="0" b="0"/>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8309867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DFCFEAE2-C337-4C6F-BA39-41833F61B33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04</a:t>
            </a:r>
          </a:p>
        </p:txBody>
      </p:sp>
      <p:sp>
        <p:nvSpPr>
          <p:cNvPr id="2" name="Google-Shape-533-p58-3">
            <a:extLst xmlns:a="http://schemas.openxmlformats.org/drawingml/2006/main">
              <a:ext uri="{FF2B5EF4-FFF2-40B4-BE49-F238E27FC236}">
                <a16:creationId xmlns:a16="http://schemas.microsoft.com/office/drawing/2014/main" id="{824DD02A-4C01-47FB-B2D5-F243C44A115B}"/>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98000"/>
              </a:lnSpc>
              <a:spcAft>
                <a:spcPts val="0"/>
              </a:spcAft>
              <a:buNone/>
            </a:pPr>
            <a:r>
              <a:rPr sz="3075" b="1">
                <a:solidFill>
                  <a:srgbClr val="071A2A"/>
                </a:solidFill>
                <a:latin typeface="Arial"/>
                <a:ea typeface="Arial"/>
                <a:cs typeface="Arial"/>
              </a:rPr>
              <a:t>Example 2 - a secondary card holder cannot use the expected lounge benefit</a:t>
            </a:r>
          </a:p>
        </p:txBody>
      </p:sp>
      <p:sp>
        <p:nvSpPr>
          <p:cNvPr id="3" name="ContextQL-Benefit-Kicker">
            <a:extLst xmlns:a="http://schemas.openxmlformats.org/drawingml/2006/main">
              <a:ext uri="{FF2B5EF4-FFF2-40B4-BE49-F238E27FC236}">
                <a16:creationId xmlns:a16="http://schemas.microsoft.com/office/drawing/2014/main" id="{E23B6EE5-B6F4-4B4F-BC30-2EC6ACC5CBC1}"/>
              </a:ext>
            </a:extLst>
          </p:cNvPr>
          <p:cNvSpPr>
            <a:spLocks xmlns:a="http://schemas.openxmlformats.org/drawingml/2006/main" noGrp="1"/>
          </p:cNvSpPr>
          <p:nvPr/>
        </p:nvSpPr>
        <p:spPr>
          <a:xfrm xmlns:a="http://schemas.openxmlformats.org/drawingml/2006/main">
            <a:off x="393668" y="1657350"/>
            <a:ext cx="11404568" cy="4953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0"/>
              </a:spcAft>
              <a:buNone/>
            </a:pPr>
            <a:r>
              <a:rPr sz="1275" b="1">
                <a:solidFill>
                  <a:srgbClr val="D6006F"/>
                </a:solidFill>
                <a:latin typeface="Arial"/>
                <a:ea typeface="Arial"/>
                <a:cs typeface="Arial"/>
              </a:rPr>
              <a:t>ILLUSTRATIVE CASE   |   SECONDARY CARD   |   AIRPORT LOUNGE</a:t>
            </a:r>
          </a:p>
        </p:txBody>
      </p:sp>
      <p:sp>
        <p:nvSpPr>
          <p:cNvPr id="4" name="Google-Shape-558-p61-4">
            <a:extLst xmlns:a="http://schemas.openxmlformats.org/drawingml/2006/main">
              <a:ext uri="{FF2B5EF4-FFF2-40B4-BE49-F238E27FC236}">
                <a16:creationId xmlns:a16="http://schemas.microsoft.com/office/drawing/2014/main" id="{3B1C1F3A-632C-4ABB-92C9-6D19C5256C8D}"/>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80"/>
              </a:spcAft>
              <a:buNone/>
            </a:pPr>
            <a:r>
              <a:rPr sz="2250" b="1">
                <a:solidFill>
                  <a:srgbClr val="00A8C8"/>
                </a:solidFill>
                <a:latin typeface="Arial"/>
                <a:ea typeface="Arial"/>
                <a:cs typeface="Arial"/>
              </a:rPr>
              <a:t>What is visible</a:t>
            </a:r>
          </a:p>
          <a:p xmlns:a="http://schemas.openxmlformats.org/drawingml/2006/main">
            <a:pPr>
              <a:lnSpc>
                <a:spcPct val="112000"/>
              </a:lnSpc>
              <a:spcAft>
                <a:spcPts val="0"/>
              </a:spcAft>
              <a:buNone/>
            </a:pPr>
            <a:r>
              <a:rPr sz="1500" b="0">
                <a:solidFill>
                  <a:srgbClr val="435466"/>
                </a:solidFill>
                <a:latin typeface="Arial"/>
                <a:ea typeface="Arial"/>
                <a:cs typeface="Arial"/>
              </a:rPr>
              <a:t>The Bank sees the card relationship, applicable fees and the client's service history.</a:t>
            </a:r>
          </a:p>
        </p:txBody>
      </p:sp>
      <p:sp>
        <p:nvSpPr>
          <p:cNvPr id="5" name="Google-Shape-559-p61-5">
            <a:extLst xmlns:a="http://schemas.openxmlformats.org/drawingml/2006/main">
              <a:ext uri="{FF2B5EF4-FFF2-40B4-BE49-F238E27FC236}">
                <a16:creationId xmlns:a16="http://schemas.microsoft.com/office/drawing/2014/main" id="{68CFC756-D9B3-4179-A6ED-EA1C4840CDFF}"/>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80"/>
              </a:spcAft>
              <a:buNone/>
            </a:pPr>
            <a:r>
              <a:rPr sz="2250" b="1">
                <a:solidFill>
                  <a:srgbClr val="D6006F"/>
                </a:solidFill>
                <a:latin typeface="Arial"/>
                <a:ea typeface="Arial"/>
                <a:cs typeface="Arial"/>
              </a:rPr>
              <a:t>What overlaps</a:t>
            </a:r>
          </a:p>
          <a:p xmlns:a="http://schemas.openxmlformats.org/drawingml/2006/main">
            <a:pPr>
              <a:lnSpc>
                <a:spcPct val="112000"/>
              </a:lnSpc>
              <a:spcAft>
                <a:spcPts val="0"/>
              </a:spcAft>
              <a:buNone/>
            </a:pPr>
            <a:r>
              <a:rPr sz="1500" b="0">
                <a:solidFill>
                  <a:srgbClr val="435466"/>
                </a:solidFill>
                <a:latin typeface="Arial"/>
                <a:ea typeface="Arial"/>
                <a:cs typeface="Arial"/>
              </a:rPr>
              <a:t>A lounge access attempt, a setup or linking issue, repeat contact and an unresolved case.</a:t>
            </a:r>
          </a:p>
        </p:txBody>
      </p:sp>
      <p:sp>
        <p:nvSpPr>
          <p:cNvPr id="6" name="Google-Shape-560-p61-6">
            <a:extLst xmlns:a="http://schemas.openxmlformats.org/drawingml/2006/main">
              <a:ext uri="{FF2B5EF4-FFF2-40B4-BE49-F238E27FC236}">
                <a16:creationId xmlns:a16="http://schemas.microsoft.com/office/drawing/2014/main" id="{EA239527-E5CF-4126-B667-A2D243A012BF}"/>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What the colleague receives</a:t>
            </a:r>
          </a:p>
          <a:p xmlns:a="http://schemas.openxmlformats.org/drawingml/2006/main">
            <a:pPr>
              <a:lnSpc>
                <a:spcPct val="112000"/>
              </a:lnSpc>
              <a:spcAft>
                <a:spcPts val="0"/>
              </a:spcAft>
              <a:buNone/>
            </a:pPr>
            <a:r>
              <a:rPr sz="1500" b="0">
                <a:solidFill>
                  <a:srgbClr val="435466"/>
                </a:solidFill>
                <a:latin typeface="Arial"/>
                <a:ea typeface="Arial"/>
                <a:cs typeface="Arial"/>
              </a:rPr>
              <a:t>A prepared case: confirm eligibility, resolve setup, explain any charge and own the next action.</a:t>
            </a:r>
          </a:p>
        </p:txBody>
      </p:sp>
      <p:sp>
        <p:nvSpPr>
          <p:cNvPr id="7" name="Google-Shape-561-p61-7">
            <a:extLst xmlns:a="http://schemas.openxmlformats.org/drawingml/2006/main">
              <a:ext uri="{FF2B5EF4-FFF2-40B4-BE49-F238E27FC236}">
                <a16:creationId xmlns:a16="http://schemas.microsoft.com/office/drawing/2014/main" id="{0F70F10D-3989-485E-842B-B3FE988A181D}"/>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rect l="0" t="0" r="0" b="0"/>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8" name="Google-Shape-562-p61-8">
            <a:extLst xmlns:a="http://schemas.openxmlformats.org/drawingml/2006/main">
              <a:ext uri="{FF2B5EF4-FFF2-40B4-BE49-F238E27FC236}">
                <a16:creationId xmlns:a16="http://schemas.microsoft.com/office/drawing/2014/main" id="{BF72E284-1E85-4100-900D-220A61FA52F1}"/>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rect l="0" t="0" r="0" b="0"/>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9" name="Google-Shape-563-p61-9">
            <a:extLst xmlns:a="http://schemas.openxmlformats.org/drawingml/2006/main">
              <a:ext uri="{FF2B5EF4-FFF2-40B4-BE49-F238E27FC236}">
                <a16:creationId xmlns:a16="http://schemas.microsoft.com/office/drawing/2014/main" id="{24DD216D-E18A-4F43-8582-0C1F1B610757}"/>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rect l="0" t="0" r="0" b="0"/>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Tree>
    <p:extLst>
      <p:ext uri="{BB962C8B-B14F-4D97-AF65-F5344CB8AC3E}">
        <p14:creationId xmlns:p14="http://schemas.microsoft.com/office/powerpoint/2010/main" val="830986746"/>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4" name="Slide-Number-Placeholder-3-2">
            <a:extLst xmlns:a="http://schemas.openxmlformats.org/drawingml/2006/main">
              <a:ext uri="{FF2B5EF4-FFF2-40B4-BE49-F238E27FC236}">
                <a16:creationId xmlns:a16="http://schemas.microsoft.com/office/drawing/2014/main" id="{3449B4BF-7AA3-4EDC-B6B6-E1834E6B8AC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05</a:t>
            </a:r>
          </a:p>
        </p:txBody>
      </p:sp>
      <p:sp>
        <p:nvSpPr>
          <p:cNvPr id="2" name="Title-10-3">
            <a:extLst xmlns:a="http://schemas.openxmlformats.org/drawingml/2006/main">
              <a:ext uri="{FF2B5EF4-FFF2-40B4-BE49-F238E27FC236}">
                <a16:creationId xmlns:a16="http://schemas.microsoft.com/office/drawing/2014/main" id="{B808D0D4-6156-4CB1-BA6E-03422700C6B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8000"/>
              </a:lnSpc>
              <a:spcAft>
                <a:spcPts val="0"/>
              </a:spcAft>
              <a:buNone/>
            </a:pPr>
            <a:r>
              <a:rPr sz="3075" b="1">
                <a:solidFill>
                  <a:srgbClr val="071A2A"/>
                </a:solidFill>
                <a:latin typeface="Arial"/>
                <a:ea typeface="Arial"/>
                <a:cs typeface="Arial"/>
              </a:rPr>
              <a:t>Example 3 - a Discovery payment is visible before external fulfilment is confirmed</a:t>
            </a:r>
          </a:p>
        </p:txBody>
      </p:sp>
      <p:sp>
        <p:nvSpPr>
          <p:cNvPr id="3" name="ContextQL-Concept-Boundary">
            <a:extLst xmlns:a="http://schemas.openxmlformats.org/drawingml/2006/main">
              <a:ext uri="{FF2B5EF4-FFF2-40B4-BE49-F238E27FC236}">
                <a16:creationId xmlns:a16="http://schemas.microsoft.com/office/drawing/2014/main" id="{CA969A4C-2FFD-48B1-B9C7-466E54894D0C}"/>
              </a:ext>
            </a:extLst>
          </p:cNvPr>
          <p:cNvSpPr>
            <a:spLocks xmlns:a="http://schemas.openxmlformats.org/drawingml/2006/main" noGrp="1"/>
          </p:cNvSpPr>
          <p:nvPr/>
        </p:nvSpPr>
        <p:spPr>
          <a:xfrm xmlns:a="http://schemas.openxmlformats.org/drawingml/2006/main">
            <a:off x="393668" y="1562100"/>
            <a:ext cx="11404568" cy="74295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nSpc>
                <a:spcPct val="100000"/>
              </a:lnSpc>
              <a:spcAft>
                <a:spcPts val="140"/>
              </a:spcAft>
              <a:buNone/>
            </a:pPr>
            <a:r>
              <a:rPr sz="1650" b="1">
                <a:solidFill>
                  <a:srgbClr val="08243A"/>
                </a:solidFill>
                <a:latin typeface="Arial"/>
                <a:ea typeface="Arial"/>
                <a:cs typeface="Arial"/>
              </a:rPr>
              <a:t>BANK-CONTROLLED EVIDENCE</a:t>
            </a:r>
            <a:r>
              <a:rPr sz="1575" b="1">
                <a:solidFill>
                  <a:srgbClr val="071A2A"/>
                </a:solidFill>
                <a:latin typeface="Arial"/>
                <a:ea typeface="Arial"/>
                <a:cs typeface="Arial"/>
              </a:rPr>
              <a:t>   Payment and service activity</a:t>
            </a:r>
          </a:p>
          <a:p xmlns:a="http://schemas.openxmlformats.org/drawingml/2006/main">
            <a:pPr>
              <a:lnSpc>
                <a:spcPct val="100000"/>
              </a:lnSpc>
              <a:spcAft>
                <a:spcPts val="0"/>
              </a:spcAft>
              <a:buNone/>
            </a:pPr>
            <a:r>
              <a:rPr sz="1275" b="1">
                <a:solidFill>
                  <a:srgbClr val="D6006F"/>
                </a:solidFill>
                <a:latin typeface="Arial"/>
                <a:ea typeface="Arial"/>
                <a:cs typeface="Arial"/>
              </a:rPr>
              <a:t>KNOWN NOW   |   BOUNDED ACTION   |   FUTURE CONFIRMATION</a:t>
            </a:r>
          </a:p>
        </p:txBody>
      </p:sp>
      <p:cxnSp>
        <p:nvCxnSpPr>
          <p:cNvPr id="29" name="Google-Shape-2259-p159-4"/>
          <p:cNvCxnSpPr/>
          <p:nvPr/>
        </p:nvCxnSpPr>
        <p:spPr>
          <a:xfrm xmlns:a="http://schemas.openxmlformats.org/drawingml/2006/main">
            <a:off x="393668" y="3373755"/>
            <a:ext cx="11404568" cy="286"/>
          </a:xfrm>
          <a:prstGeom xmlns:a="http://schemas.openxmlformats.org/drawingml/2006/main" prst="straightConnector1">
            <a:avLst/>
          </a:prstGeom>
          <a:ln xmlns:a="http://schemas.openxmlformats.org/drawingml/2006/main" w="9525">
            <a:solidFill>
              <a:srgbClr val="000000"/>
            </a:solidFill>
            <a:prstDash val="solid"/>
          </a:ln>
        </p:spPr>
      </p:cxnSp>
      <p:sp>
        <p:nvSpPr>
          <p:cNvPr id="5" name="Google-Shape-2260-p159-5">
            <a:extLst xmlns:a="http://schemas.openxmlformats.org/drawingml/2006/main">
              <a:ext uri="{FF2B5EF4-FFF2-40B4-BE49-F238E27FC236}">
                <a16:creationId xmlns:a16="http://schemas.microsoft.com/office/drawing/2014/main" id="{8CD3F062-3854-4E50-B10F-B15806DC3D25}"/>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6" name="Google-Shape-2261-p159-6">
            <a:extLst xmlns:a="http://schemas.openxmlformats.org/drawingml/2006/main">
              <a:ext uri="{FF2B5EF4-FFF2-40B4-BE49-F238E27FC236}">
                <a16:creationId xmlns:a16="http://schemas.microsoft.com/office/drawing/2014/main" id="{39FDEC8D-5A88-4B01-80C6-4615CE71BAAF}"/>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7" name="Google-Shape-2262-p159-7">
            <a:extLst xmlns:a="http://schemas.openxmlformats.org/drawingml/2006/main">
              <a:ext uri="{FF2B5EF4-FFF2-40B4-BE49-F238E27FC236}">
                <a16:creationId xmlns:a16="http://schemas.microsoft.com/office/drawing/2014/main" id="{8990A5D5-B45A-4A25-9F44-214B4C7BF016}"/>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txBody>
          <a:bodyPr xmlns:a="http://schemas.openxmlformats.org/drawingml/2006/main"/>
          <a:lstStyle xmlns:a="http://schemas.openxmlformats.org/drawingml/2006/main"/>
          <a:p xmlns:a="http://schemas.openxmlformats.org/drawingml/2006/main"/>
        </p:txBody>
      </p:sp>
      <p:sp>
        <p:nvSpPr>
          <p:cNvPr id="8" name="Content-Placeholder-15-8">
            <a:extLst xmlns:a="http://schemas.openxmlformats.org/drawingml/2006/main">
              <a:ext uri="{FF2B5EF4-FFF2-40B4-BE49-F238E27FC236}">
                <a16:creationId xmlns:a16="http://schemas.microsoft.com/office/drawing/2014/main" id="{CBE91A15-BCB7-45BE-96D4-881B6DEF5CB2}"/>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0"/>
              </a:spcAft>
              <a:buNone/>
            </a:pPr>
            <a:r>
              <a:rPr sz="1275" b="1">
                <a:solidFill>
                  <a:srgbClr val="00A8C8"/>
                </a:solidFill>
                <a:latin typeface="Arial"/>
                <a:ea typeface="Arial"/>
                <a:cs typeface="Arial"/>
              </a:rPr>
              <a:t>BANK EVIDENCE</a:t>
            </a:r>
          </a:p>
        </p:txBody>
      </p:sp>
      <p:sp>
        <p:nvSpPr>
          <p:cNvPr id="9" name="Content-Placeholder-15-9">
            <a:extLst xmlns:a="http://schemas.openxmlformats.org/drawingml/2006/main">
              <a:ext uri="{FF2B5EF4-FFF2-40B4-BE49-F238E27FC236}">
                <a16:creationId xmlns:a16="http://schemas.microsoft.com/office/drawing/2014/main" id="{37A14E87-0115-4907-AC32-3E3B5F966C08}"/>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0"/>
              </a:spcAft>
              <a:buNone/>
            </a:pPr>
            <a:r>
              <a:rPr sz="1275" b="1">
                <a:solidFill>
                  <a:srgbClr val="D6006F"/>
                </a:solidFill>
                <a:latin typeface="Arial"/>
                <a:ea typeface="Arial"/>
                <a:cs typeface="Arial"/>
              </a:rPr>
              <a:t>CONTEXT</a:t>
            </a:r>
          </a:p>
        </p:txBody>
      </p:sp>
      <p:sp>
        <p:nvSpPr>
          <p:cNvPr id="10" name="Content-Placeholder-15-10">
            <a:extLst xmlns:a="http://schemas.openxmlformats.org/drawingml/2006/main">
              <a:ext uri="{FF2B5EF4-FFF2-40B4-BE49-F238E27FC236}">
                <a16:creationId xmlns:a16="http://schemas.microsoft.com/office/drawing/2014/main" id="{9976CF10-1D09-4BEB-AB2D-610B0A24CE84}"/>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0"/>
              </a:spcAft>
              <a:buNone/>
            </a:pPr>
            <a:r>
              <a:rPr sz="1275" b="1">
                <a:solidFill>
                  <a:srgbClr val="08243A"/>
                </a:solidFill>
                <a:latin typeface="Arial"/>
                <a:ea typeface="Arial"/>
                <a:cs typeface="Arial"/>
              </a:rPr>
              <a:t>SERVICE ACTION</a:t>
            </a:r>
          </a:p>
        </p:txBody>
      </p:sp>
      <p:sp>
        <p:nvSpPr>
          <p:cNvPr id="11" name="Text-Placeholder-16-11">
            <a:extLst xmlns:a="http://schemas.openxmlformats.org/drawingml/2006/main">
              <a:ext uri="{FF2B5EF4-FFF2-40B4-BE49-F238E27FC236}">
                <a16:creationId xmlns:a16="http://schemas.microsoft.com/office/drawing/2014/main" id="{ACCF9F46-6D1D-4842-8D30-68F3C2FDF7D3}"/>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Known and unknown</a:t>
            </a:r>
          </a:p>
          <a:p xmlns:a="http://schemas.openxmlformats.org/drawingml/2006/main">
            <a:pPr>
              <a:lnSpc>
                <a:spcPct val="112000"/>
              </a:lnSpc>
              <a:spcAft>
                <a:spcPts val="0"/>
              </a:spcAft>
              <a:buNone/>
            </a:pPr>
            <a:r>
              <a:rPr sz="1463" b="0">
                <a:solidFill>
                  <a:srgbClr val="435466"/>
                </a:solidFill>
                <a:latin typeface="Arial"/>
                <a:ea typeface="Arial"/>
                <a:cs typeface="Arial"/>
              </a:rPr>
              <a:t>The money movement and servicing history are known. External entitlement or fulfilment is not yet confirmed.</a:t>
            </a:r>
          </a:p>
        </p:txBody>
      </p:sp>
      <p:sp>
        <p:nvSpPr>
          <p:cNvPr id="12" name="Text-Placeholder-16-12">
            <a:extLst xmlns:a="http://schemas.openxmlformats.org/drawingml/2006/main">
              <a:ext uri="{FF2B5EF4-FFF2-40B4-BE49-F238E27FC236}">
                <a16:creationId xmlns:a16="http://schemas.microsoft.com/office/drawing/2014/main" id="{C194216D-B3CD-4A7D-842C-604E88DB09BF}"/>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250" b="1">
                <a:solidFill>
                  <a:srgbClr val="08243A"/>
                </a:solidFill>
                <a:latin typeface="Arial"/>
                <a:ea typeface="Arial"/>
                <a:cs typeface="Arial"/>
              </a:rPr>
              <a:t>Known Bank activity</a:t>
            </a:r>
          </a:p>
          <a:p xmlns:a="http://schemas.openxmlformats.org/drawingml/2006/main">
            <a:pPr>
              <a:lnSpc>
                <a:spcPct val="112000"/>
              </a:lnSpc>
              <a:spcAft>
                <a:spcPts val="0"/>
              </a:spcAft>
              <a:buNone/>
            </a:pPr>
            <a:r>
              <a:rPr sz="1500" b="0">
                <a:solidFill>
                  <a:srgbClr val="435466"/>
                </a:solidFill>
                <a:latin typeface="Arial"/>
                <a:ea typeface="Arial"/>
                <a:cs typeface="Arial"/>
              </a:rPr>
              <a:t>A recurring Discovery payment, a payment-route query, repeat contact and an open case.</a:t>
            </a:r>
          </a:p>
        </p:txBody>
      </p:sp>
      <p:sp>
        <p:nvSpPr>
          <p:cNvPr id="13" name="Text-Placeholder-16-13">
            <a:extLst xmlns:a="http://schemas.openxmlformats.org/drawingml/2006/main">
              <a:ext uri="{FF2B5EF4-FFF2-40B4-BE49-F238E27FC236}">
                <a16:creationId xmlns:a16="http://schemas.microsoft.com/office/drawing/2014/main" id="{A0D9B497-6731-40CE-BF9E-EC8CC45CDBB0}"/>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280"/>
              </a:spcAft>
              <a:buNone/>
            </a:pPr>
            <a:r>
              <a:rPr sz="2175" b="1">
                <a:solidFill>
                  <a:srgbClr val="08243A"/>
                </a:solidFill>
                <a:latin typeface="Arial"/>
                <a:ea typeface="Arial"/>
                <a:cs typeface="Arial"/>
              </a:rPr>
              <a:t>Act within the boundary</a:t>
            </a:r>
          </a:p>
          <a:p xmlns:a="http://schemas.openxmlformats.org/drawingml/2006/main">
            <a:pPr>
              <a:lnSpc>
                <a:spcPct val="112000"/>
              </a:lnSpc>
              <a:spcAft>
                <a:spcPts val="0"/>
              </a:spcAft>
              <a:buNone/>
            </a:pPr>
            <a:r>
              <a:rPr sz="1463" b="0">
                <a:solidFill>
                  <a:srgbClr val="435466"/>
                </a:solidFill>
                <a:latin typeface="Arial"/>
                <a:ea typeface="Arial"/>
                <a:cs typeface="Arial"/>
              </a:rPr>
              <a:t>Resolve the Bank-owned issue, prepare the referral and later add approved cross-Discovery status.</a:t>
            </a:r>
          </a:p>
        </p:txBody>
      </p:sp>
    </p:spTree>
    <p:extLst>
      <p:ext uri="{BB962C8B-B14F-4D97-AF65-F5344CB8AC3E}">
        <p14:creationId xmlns:p14="http://schemas.microsoft.com/office/powerpoint/2010/main" val="20030002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3" name="Rounded-Rectangle-5-1">
            <a:extLst xmlns:a="http://schemas.openxmlformats.org/drawingml/2006/main">
              <a:ext uri="{FF2B5EF4-FFF2-40B4-BE49-F238E27FC236}">
                <a16:creationId xmlns:a16="http://schemas.microsoft.com/office/drawing/2014/main" id="{138440CF-59B0-4C1E-85A5-F163FF39DA19}"/>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2" name="Rounded-Rectangle-6-2">
            <a:extLst xmlns:a="http://schemas.openxmlformats.org/drawingml/2006/main">
              <a:ext uri="{FF2B5EF4-FFF2-40B4-BE49-F238E27FC236}">
                <a16:creationId xmlns:a16="http://schemas.microsoft.com/office/drawing/2014/main" id="{A1E62C41-262D-44C2-A812-E3D5CC487A9A}"/>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3" name="Rounded-Rectangle-7-3">
            <a:extLst xmlns:a="http://schemas.openxmlformats.org/drawingml/2006/main">
              <a:ext uri="{FF2B5EF4-FFF2-40B4-BE49-F238E27FC236}">
                <a16:creationId xmlns:a16="http://schemas.microsoft.com/office/drawing/2014/main" id="{ACE7AC42-FBE9-489C-8F5F-69F637E8F73F}"/>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txBody>
          <a:bodyPr xmlns:a="http://schemas.openxmlformats.org/drawingml/2006/main"/>
          <a:lstStyle xmlns:a="http://schemas.openxmlformats.org/drawingml/2006/main"/>
          <a:p xmlns:a="http://schemas.openxmlformats.org/drawingml/2006/main"/>
        </p:txBody>
      </p:sp>
      <p:sp>
        <p:nvSpPr>
          <p:cNvPr id="4" name="Slide-Number-Placeholder-1-4">
            <a:extLst xmlns:a="http://schemas.openxmlformats.org/drawingml/2006/main">
              <a:ext uri="{FF2B5EF4-FFF2-40B4-BE49-F238E27FC236}">
                <a16:creationId xmlns:a16="http://schemas.microsoft.com/office/drawing/2014/main" id="{E2F788FA-E422-4F71-88A9-5BB037FD1CA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lnSpc>
                <a:spcPct val="108000"/>
              </a:lnSpc>
              <a:spcAft>
                <a:spcPts val="0"/>
              </a:spcAft>
              <a:buNone/>
              <a:defRPr sz="1000">
                <a:solidFill>
                  <a:srgbClr val="000000"/>
                </a:solidFill>
                <a:latin typeface="Helvetica Neue"/>
                <a:ea typeface="Helvetica Neue"/>
                <a:cs typeface="Helvetica Neue"/>
              </a:defRPr>
            </a:pPr>
            <a:r>
              <a:rPr sz="1050" b="0">
                <a:solidFill>
                  <a:srgbClr val="6D7885"/>
                </a:solidFill>
                <a:latin typeface="Arial"/>
                <a:ea typeface="Arial"/>
                <a:cs typeface="Arial"/>
              </a:rPr>
              <a:t>06</a:t>
            </a:r>
          </a:p>
        </p:txBody>
      </p:sp>
      <p:sp>
        <p:nvSpPr>
          <p:cNvPr id="5" name="Title-2-5">
            <a:extLst xmlns:a="http://schemas.openxmlformats.org/drawingml/2006/main">
              <a:ext uri="{FF2B5EF4-FFF2-40B4-BE49-F238E27FC236}">
                <a16:creationId xmlns:a16="http://schemas.microsoft.com/office/drawing/2014/main" id="{D8571C9D-E201-490B-BAA0-796FEB61384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8000"/>
              </a:lnSpc>
              <a:spcAft>
                <a:spcPts val="0"/>
              </a:spcAft>
              <a:buNone/>
            </a:pPr>
            <a:r>
              <a:rPr sz="3150" b="1">
                <a:solidFill>
                  <a:srgbClr val="071A2A"/>
                </a:solidFill>
                <a:latin typeface="Arial"/>
                <a:ea typeface="Arial"/>
                <a:cs typeface="Arial"/>
              </a:rPr>
              <a:t>A shared, explainable view of the client situation</a:t>
            </a:r>
          </a:p>
        </p:txBody>
      </p:sp>
      <p:sp>
        <p:nvSpPr>
          <p:cNvPr id="6" name="Content-Placeholder-9-6">
            <a:extLst xmlns:a="http://schemas.openxmlformats.org/drawingml/2006/main">
              <a:ext uri="{FF2B5EF4-FFF2-40B4-BE49-F238E27FC236}">
                <a16:creationId xmlns:a16="http://schemas.microsoft.com/office/drawing/2014/main" id="{90CFCBCA-9C16-41C6-99F9-7BC8BFD70C04}"/>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nSpc>
                <a:spcPct val="108000"/>
              </a:lnSpc>
              <a:spcAft>
                <a:spcPts val="0"/>
              </a:spcAft>
              <a:buNone/>
            </a:pPr>
            <a:r>
              <a:rPr sz="1500" b="1">
                <a:solidFill>
                  <a:srgbClr val="435466"/>
                </a:solidFill>
                <a:latin typeface="Arial"/>
                <a:ea typeface="Arial"/>
                <a:cs typeface="Arial"/>
              </a:rPr>
              <a:t>Related issues, sequence and unresolved work</a:t>
            </a:r>
          </a:p>
        </p:txBody>
      </p:sp>
      <p:sp>
        <p:nvSpPr>
          <p:cNvPr id="7" name="Content-Placeholder-10-7">
            <a:extLst xmlns:a="http://schemas.openxmlformats.org/drawingml/2006/main">
              <a:ext uri="{FF2B5EF4-FFF2-40B4-BE49-F238E27FC236}">
                <a16:creationId xmlns:a16="http://schemas.microsoft.com/office/drawing/2014/main" id="{04E55D14-195D-485E-9F50-BB6D570B22BD}"/>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nSpc>
                <a:spcPct val="108000"/>
              </a:lnSpc>
              <a:spcAft>
                <a:spcPts val="0"/>
              </a:spcAft>
              <a:buNone/>
            </a:pPr>
            <a:r>
              <a:rPr sz="1500" b="1">
                <a:solidFill>
                  <a:srgbClr val="435466"/>
                </a:solidFill>
                <a:latin typeface="Arial"/>
                <a:ea typeface="Arial"/>
                <a:cs typeface="Arial"/>
              </a:rPr>
              <a:t>A clear owner and next action</a:t>
            </a:r>
          </a:p>
        </p:txBody>
      </p:sp>
      <p:sp>
        <p:nvSpPr>
          <p:cNvPr id="8" name="Content-Placeholder-11-8">
            <a:extLst xmlns:a="http://schemas.openxmlformats.org/drawingml/2006/main">
              <a:ext uri="{FF2B5EF4-FFF2-40B4-BE49-F238E27FC236}">
                <a16:creationId xmlns:a16="http://schemas.microsoft.com/office/drawing/2014/main" id="{70424126-B105-4ADB-93DC-70E7726CA992}"/>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nSpc>
                <a:spcPct val="108000"/>
              </a:lnSpc>
              <a:spcAft>
                <a:spcPts val="0"/>
              </a:spcAft>
              <a:buNone/>
            </a:pPr>
            <a:r>
              <a:rPr sz="1500" b="1">
                <a:solidFill>
                  <a:srgbClr val="435466"/>
                </a:solidFill>
                <a:latin typeface="Arial"/>
                <a:ea typeface="Arial"/>
                <a:cs typeface="Arial"/>
              </a:rPr>
              <a:t>A concise case file for the service colleague</a:t>
            </a:r>
          </a:p>
        </p:txBody>
      </p:sp>
      <p:sp>
        <p:nvSpPr>
          <p:cNvPr id="9" name="Content-Placeholder-9-9">
            <a:extLst xmlns:a="http://schemas.openxmlformats.org/drawingml/2006/main">
              <a:ext uri="{FF2B5EF4-FFF2-40B4-BE49-F238E27FC236}">
                <a16:creationId xmlns:a16="http://schemas.microsoft.com/office/drawing/2014/main" id="{ED107125-D2D1-4F08-8AC9-1A5F2E39907B}"/>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nSpc>
                <a:spcPct val="100000"/>
              </a:lnSpc>
              <a:spcAft>
                <a:spcPts val="0"/>
              </a:spcAft>
              <a:buNone/>
            </a:pPr>
            <a:r>
              <a:rPr sz="4950" b="1">
                <a:solidFill>
                  <a:srgbClr val="00A8C8"/>
                </a:solidFill>
                <a:latin typeface="Arial"/>
                <a:ea typeface="Arial"/>
                <a:cs typeface="Arial"/>
              </a:rPr>
              <a:t>NOW</a:t>
            </a:r>
          </a:p>
        </p:txBody>
      </p:sp>
      <p:sp>
        <p:nvSpPr>
          <p:cNvPr id="10" name="Content-Placeholder-9-10">
            <a:extLst xmlns:a="http://schemas.openxmlformats.org/drawingml/2006/main">
              <a:ext uri="{FF2B5EF4-FFF2-40B4-BE49-F238E27FC236}">
                <a16:creationId xmlns:a16="http://schemas.microsoft.com/office/drawing/2014/main" id="{6B44029B-C815-4B46-ACDC-F0B73A8AE29E}"/>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nSpc>
                <a:spcPct val="100000"/>
              </a:lnSpc>
              <a:spcAft>
                <a:spcPts val="0"/>
              </a:spcAft>
              <a:buNone/>
            </a:pPr>
            <a:r>
              <a:rPr sz="4350" b="1">
                <a:solidFill>
                  <a:srgbClr val="D6006F"/>
                </a:solidFill>
                <a:latin typeface="Arial"/>
                <a:ea typeface="Arial"/>
                <a:cs typeface="Arial"/>
              </a:rPr>
              <a:t>READY</a:t>
            </a:r>
          </a:p>
        </p:txBody>
      </p:sp>
      <p:sp>
        <p:nvSpPr>
          <p:cNvPr id="11" name="Content-Placeholder-9-11">
            <a:extLst xmlns:a="http://schemas.openxmlformats.org/drawingml/2006/main">
              <a:ext uri="{FF2B5EF4-FFF2-40B4-BE49-F238E27FC236}">
                <a16:creationId xmlns:a16="http://schemas.microsoft.com/office/drawing/2014/main" id="{2E26BFD3-3A23-4E3C-B50A-423AD8988959}"/>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nSpc>
                <a:spcPct val="100000"/>
              </a:lnSpc>
              <a:spcAft>
                <a:spcPts val="0"/>
              </a:spcAft>
              <a:buNone/>
            </a:pPr>
            <a:r>
              <a:rPr sz="4950" b="1">
                <a:solidFill>
                  <a:srgbClr val="08243A"/>
                </a:solidFill>
                <a:latin typeface="Arial"/>
                <a:ea typeface="Arial"/>
                <a:cs typeface="Arial"/>
              </a:rPr>
              <a:t>ONE</a:t>
            </a:r>
          </a:p>
        </p:txBody>
      </p:sp>
      <p:sp>
        <p:nvSpPr>
          <p:cNvPr id="12" name="Content-Placeholder-15-12">
            <a:extLst xmlns:a="http://schemas.openxmlformats.org/drawingml/2006/main">
              <a:ext uri="{FF2B5EF4-FFF2-40B4-BE49-F238E27FC236}">
                <a16:creationId xmlns:a16="http://schemas.microsoft.com/office/drawing/2014/main" id="{099AD58B-D285-47DB-A925-F2249FA48635}"/>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nSpc>
                <a:spcPct val="100000"/>
              </a:lnSpc>
              <a:spcAft>
                <a:spcPts val="130"/>
              </a:spcAft>
              <a:buNone/>
            </a:pPr>
            <a:r>
              <a:rPr sz="1350" b="1">
                <a:solidFill>
                  <a:srgbClr val="D6006F"/>
                </a:solidFill>
                <a:latin typeface="Arial"/>
                <a:ea typeface="Arial"/>
                <a:cs typeface="Arial"/>
              </a:rPr>
              <a:t>CONCEPT VALUE</a:t>
            </a:r>
          </a:p>
          <a:p xmlns:a="http://schemas.openxmlformats.org/drawingml/2006/main">
            <a:pPr>
              <a:lnSpc>
                <a:spcPct val="103000"/>
              </a:lnSpc>
              <a:spcAft>
                <a:spcPts val="0"/>
              </a:spcAft>
              <a:buNone/>
            </a:pPr>
            <a:r>
              <a:rPr sz="2025" b="1">
                <a:solidFill>
                  <a:srgbClr val="071A2A"/>
                </a:solidFill>
                <a:latin typeface="Arial"/>
                <a:ea typeface="Arial"/>
                <a:cs typeface="Arial"/>
              </a:rPr>
              <a:t>Use existing signals to prepare the right response before the next interaction.</a:t>
            </a:r>
          </a:p>
        </p:txBody>
      </p:sp>
    </p:spTree>
    <p:extLst>
      <p:ext uri="{BB962C8B-B14F-4D97-AF65-F5344CB8AC3E}">
        <p14:creationId xmlns:p14="http://schemas.microsoft.com/office/powerpoint/2010/main" val="95925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2026-08-03T12:27:34.3090000Z</dcterms:created>
  <dcterms:modified xsi:type="dcterms:W3CDTF">2026-08-03T12:27:34.3090000Z</dcterms:modified>
</coreProperties>
</file>